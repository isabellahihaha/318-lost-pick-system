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38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00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842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72B05-D5AB-A4D6-80CF-B8920B93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61548-F168-92CF-FE70-408B09AFE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FAD3E-375E-A3A7-5DE5-61FAB7F4F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409C8-F010-8EE3-9902-51897EE070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72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1DB2-8CF2-8EA2-2A69-7E049F259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C0968-93B0-37A7-B1F8-D4AD089F6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20A02-A5F9-5A02-8D40-571E058FC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1C2E0-33F2-7338-6257-10113DDBA9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01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8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" y="76200"/>
            <a:ext cx="12039600" cy="670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" y="76200"/>
            <a:ext cx="558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1303000" y="6223000"/>
            <a:ext cx="812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22000" y="186267"/>
            <a:ext cx="84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A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" y="76200"/>
            <a:ext cx="12039600" cy="670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img/campu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734" y="76200"/>
            <a:ext cx="5289066" cy="6705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94267" y="745067"/>
            <a:ext cx="4741333" cy="440267"/>
          </a:xfrm>
          <a:prstGeom prst="rect">
            <a:avLst/>
          </a:prstGeom>
          <a:solidFill>
            <a:srgbClr val="0B1B6B"/>
          </a:solidFill>
          <a:ln>
            <a:solidFill>
              <a:srgbClr val="0B1B6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TODAY, FOUND RIGHT AWAY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94267" y="2709333"/>
            <a:ext cx="6773333" cy="1100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Lost &amp; Found</a:t>
            </a:r>
            <a:endParaRPr lang="en-US" sz="3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Platform</a:t>
            </a:r>
            <a:endParaRPr lang="en-US" sz="3600" dirty="0"/>
          </a:p>
        </p:txBody>
      </p:sp>
      <p:sp>
        <p:nvSpPr>
          <p:cNvPr id="15" name="Text 10"/>
          <p:cNvSpPr txBox="1"/>
          <p:nvPr/>
        </p:nvSpPr>
        <p:spPr>
          <a:xfrm>
            <a:off x="694267" y="4064000"/>
            <a:ext cx="67733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complexity to smart recovery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94267" y="5334000"/>
            <a:ext cx="3386667" cy="592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CSCI318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LuckyThree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8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14" y="71042"/>
            <a:ext cx="12039600" cy="670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" y="76200"/>
            <a:ext cx="558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1303000" y="6223000"/>
            <a:ext cx="812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22000" y="186267"/>
            <a:ext cx="84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A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0" y="1100667"/>
            <a:ext cx="12192000" cy="592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 rot="2700000">
            <a:off x="1016000" y="762000"/>
            <a:ext cx="1185333" cy="1185333"/>
          </a:xfrm>
          <a:prstGeom prst="rect">
            <a:avLst/>
          </a:prstGeom>
          <a:solidFill>
            <a:srgbClr val="336699"/>
          </a:solidFill>
          <a:ln w="12700">
            <a:solidFill>
              <a:srgbClr val="3366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9990667" y="1100667"/>
            <a:ext cx="931333" cy="931333"/>
          </a:xfrm>
          <a:prstGeom prst="rect">
            <a:avLst/>
          </a:prstGeom>
          <a:solidFill>
            <a:srgbClr val="0B1B6B"/>
          </a:solidFill>
          <a:ln w="12700">
            <a:solidFill>
              <a:srgbClr val="0B1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1467" y="2878667"/>
            <a:ext cx="3115733" cy="2709333"/>
          </a:xfrm>
          <a:prstGeom prst="rect">
            <a:avLst/>
          </a:prstGeom>
          <a:solidFill>
            <a:srgbClr val="0B1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51467" y="3149600"/>
            <a:ext cx="3115733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UOW Process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523999" y="3496412"/>
            <a:ext cx="2370667" cy="169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lost-property enquiry form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by Security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38133" y="2878667"/>
            <a:ext cx="3115733" cy="2709333"/>
          </a:xfrm>
          <a:prstGeom prst="rect">
            <a:avLst/>
          </a:prstGeom>
          <a:solidFill>
            <a:srgbClr val="4A8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38133" y="3149600"/>
            <a:ext cx="3115733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961467" y="3725333"/>
            <a:ext cx="2370667" cy="169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VN" sz="1400" dirty="0">
                <a:solidFill>
                  <a:schemeClr val="bg1"/>
                </a:solidFill>
              </a:rPr>
              <a:t>Users mainly submit enquiries rather than actively search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VN" sz="1400" dirty="0">
                <a:solidFill>
                  <a:schemeClr val="bg1"/>
                </a:solidFill>
              </a:rPr>
              <a:t>Limited visibility into potential matches and recovery progress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24800" y="2878667"/>
            <a:ext cx="3115733" cy="2709333"/>
          </a:xfrm>
          <a:prstGeom prst="rect">
            <a:avLst/>
          </a:prstGeom>
          <a:solidFill>
            <a:srgbClr val="0B1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24800" y="3149600"/>
            <a:ext cx="3115733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48133" y="3725333"/>
            <a:ext cx="2370667" cy="169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Matching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8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" y="76200"/>
            <a:ext cx="12039600" cy="670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" y="76200"/>
            <a:ext cx="558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1303000" y="6223000"/>
            <a:ext cx="812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22000" y="186267"/>
            <a:ext cx="84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A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4933" y="237067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Domain Modelling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491067" y="948267"/>
            <a:ext cx="4233333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Functional Requirements (Overview)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4933" y="1320800"/>
            <a:ext cx="880533" cy="880533"/>
          </a:xfrm>
          <a:prstGeom prst="ellipse">
            <a:avLst/>
          </a:prstGeom>
          <a:solidFill>
            <a:srgbClr val="4A86F7"/>
          </a:solidFill>
          <a:ln>
            <a:solidFill>
              <a:srgbClr val="4A86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39333" y="1913467"/>
            <a:ext cx="33867" cy="169333"/>
          </a:xfrm>
          <a:prstGeom prst="line">
            <a:avLst/>
          </a:prstGeom>
          <a:noFill/>
          <a:ln w="19050">
            <a:solidFill>
              <a:srgbClr val="122A8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1507067" y="1659467"/>
            <a:ext cx="880533" cy="880533"/>
          </a:xfrm>
          <a:prstGeom prst="ellipse">
            <a:avLst/>
          </a:prstGeom>
          <a:solidFill>
            <a:srgbClr val="DCEAFD"/>
          </a:solidFill>
          <a:ln>
            <a:solidFill>
              <a:srgbClr val="DCEAF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1467" y="1913467"/>
            <a:ext cx="33867" cy="0"/>
          </a:xfrm>
          <a:prstGeom prst="line">
            <a:avLst/>
          </a:prstGeom>
          <a:noFill/>
          <a:ln w="19050">
            <a:solidFill>
              <a:srgbClr val="122A8A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489200" y="1320800"/>
            <a:ext cx="880533" cy="880533"/>
          </a:xfrm>
          <a:prstGeom prst="ellipse">
            <a:avLst/>
          </a:prstGeom>
          <a:solidFill>
            <a:srgbClr val="4A86F7"/>
          </a:solidFill>
          <a:ln>
            <a:solidFill>
              <a:srgbClr val="4A86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03600" y="1913467"/>
            <a:ext cx="33867" cy="169333"/>
          </a:xfrm>
          <a:prstGeom prst="line">
            <a:avLst/>
          </a:prstGeom>
          <a:noFill/>
          <a:ln w="19050">
            <a:solidFill>
              <a:srgbClr val="122A8A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471333" y="1659467"/>
            <a:ext cx="880533" cy="880533"/>
          </a:xfrm>
          <a:prstGeom prst="ellipse">
            <a:avLst/>
          </a:prstGeom>
          <a:solidFill>
            <a:srgbClr val="DCEAFD"/>
          </a:solidFill>
          <a:ln>
            <a:solidFill>
              <a:srgbClr val="DCEAF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5733" y="1913467"/>
            <a:ext cx="33867" cy="0"/>
          </a:xfrm>
          <a:prstGeom prst="line">
            <a:avLst/>
          </a:prstGeom>
          <a:noFill/>
          <a:ln w="19050">
            <a:solidFill>
              <a:srgbClr val="122A8A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453467" y="1320800"/>
            <a:ext cx="880533" cy="880533"/>
          </a:xfrm>
          <a:prstGeom prst="ellipse">
            <a:avLst/>
          </a:prstGeom>
          <a:solidFill>
            <a:srgbClr val="4A86F7"/>
          </a:solidFill>
          <a:ln>
            <a:solidFill>
              <a:srgbClr val="4A86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Claim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67867" y="1913467"/>
            <a:ext cx="33867" cy="169333"/>
          </a:xfrm>
          <a:prstGeom prst="line">
            <a:avLst/>
          </a:prstGeom>
          <a:noFill/>
          <a:ln w="19050">
            <a:solidFill>
              <a:srgbClr val="122A8A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435600" y="1659467"/>
            <a:ext cx="880533" cy="880533"/>
          </a:xfrm>
          <a:prstGeom prst="ellipse">
            <a:avLst/>
          </a:prstGeom>
          <a:solidFill>
            <a:srgbClr val="DCEAFD"/>
          </a:solidFill>
          <a:ln>
            <a:solidFill>
              <a:srgbClr val="DCEAF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Recover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0000" y="1913467"/>
            <a:ext cx="33867" cy="0"/>
          </a:xfrm>
          <a:prstGeom prst="line">
            <a:avLst/>
          </a:prstGeom>
          <a:noFill/>
          <a:ln w="19050">
            <a:solidFill>
              <a:srgbClr val="122A8A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417733" y="1320800"/>
            <a:ext cx="880533" cy="880533"/>
          </a:xfrm>
          <a:prstGeom prst="ellipse">
            <a:avLst/>
          </a:prstGeom>
          <a:solidFill>
            <a:srgbClr val="4A86F7"/>
          </a:solidFill>
          <a:ln>
            <a:solidFill>
              <a:srgbClr val="4A86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1067" y="2912533"/>
            <a:ext cx="50800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requirements include: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91067" y="3318933"/>
            <a:ext cx="3132667" cy="237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registration and login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lost and found items (with AI assistance)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filter listings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matching and ranking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and verify ownership claims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979333" y="3318933"/>
            <a:ext cx="3132667" cy="237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notifications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profiles and contact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item status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VN" sz="1400" dirty="0"/>
              <a:t>Verify ownership claims using submitted evidence 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administration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450667" y="880533"/>
            <a:ext cx="0" cy="5046133"/>
          </a:xfrm>
          <a:prstGeom prst="line">
            <a:avLst/>
          </a:prstGeom>
          <a:noFill/>
          <a:ln w="19050">
            <a:solidFill>
              <a:srgbClr val="C9D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04667" y="914400"/>
            <a:ext cx="4233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Bounded Contexts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04667" y="1337733"/>
            <a:ext cx="3996267" cy="778933"/>
          </a:xfrm>
          <a:prstGeom prst="roundRect">
            <a:avLst>
              <a:gd name="adj" fmla="val 9391"/>
            </a:avLst>
          </a:prstGeom>
          <a:solidFill>
            <a:srgbClr val="E6EF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41733" y="1507067"/>
            <a:ext cx="355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941733" y="1744133"/>
            <a:ext cx="355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identity and contact information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04667" y="2252133"/>
            <a:ext cx="3996267" cy="778933"/>
          </a:xfrm>
          <a:prstGeom prst="roundRect">
            <a:avLst>
              <a:gd name="adj" fmla="val 9391"/>
            </a:avLst>
          </a:prstGeom>
          <a:solidFill>
            <a:srgbClr val="DCEA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41733" y="2421467"/>
            <a:ext cx="355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Item Management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941733" y="2658533"/>
            <a:ext cx="355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VN" sz="1200" dirty="0"/>
              <a:t>Lost item reports, details and status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04667" y="3166533"/>
            <a:ext cx="3996267" cy="778933"/>
          </a:xfrm>
          <a:prstGeom prst="roundRect">
            <a:avLst>
              <a:gd name="adj" fmla="val 9391"/>
            </a:avLst>
          </a:prstGeom>
          <a:solidFill>
            <a:srgbClr val="C3DC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41733" y="3335867"/>
            <a:ext cx="355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Item Management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941733" y="3572933"/>
            <a:ext cx="355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VN" sz="1200" dirty="0"/>
              <a:t>Found item reports, details and status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704667" y="4080933"/>
            <a:ext cx="3996267" cy="778933"/>
          </a:xfrm>
          <a:prstGeom prst="roundRect">
            <a:avLst>
              <a:gd name="adj" fmla="val 9391"/>
            </a:avLst>
          </a:prstGeom>
          <a:solidFill>
            <a:srgbClr val="DCEA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41733" y="4250267"/>
            <a:ext cx="355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Service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941733" y="4487333"/>
            <a:ext cx="355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VN" sz="1200" dirty="0"/>
              <a:t>Search, filtering and AI-assisted matching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04667" y="4995333"/>
            <a:ext cx="3996267" cy="778933"/>
          </a:xfrm>
          <a:prstGeom prst="roundRect">
            <a:avLst>
              <a:gd name="adj" fmla="val 9391"/>
            </a:avLst>
          </a:prstGeom>
          <a:solidFill>
            <a:srgbClr val="C8D8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41733" y="5164667"/>
            <a:ext cx="355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&amp; Recovery Management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941733" y="5401733"/>
            <a:ext cx="355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claims, verification and recovery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8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" y="76200"/>
            <a:ext cx="12039600" cy="670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" y="76200"/>
            <a:ext cx="558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1303000" y="6223000"/>
            <a:ext cx="812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22000" y="186267"/>
            <a:ext cx="84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A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4933" y="237067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Overview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491067" y="931333"/>
            <a:ext cx="2201333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/ Interface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1067" y="1253067"/>
            <a:ext cx="1608667" cy="3302000"/>
          </a:xfrm>
          <a:prstGeom prst="roundRect">
            <a:avLst>
              <a:gd name="adj" fmla="val 4547"/>
            </a:avLst>
          </a:prstGeom>
          <a:solidFill>
            <a:srgbClr val="EEF5FE"/>
          </a:solidFill>
          <a:ln w="12700">
            <a:solidFill>
              <a:srgbClr val="C9D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9067" y="1574800"/>
            <a:ext cx="592667" cy="440267"/>
          </a:xfrm>
          <a:prstGeom prst="rect">
            <a:avLst/>
          </a:prstGeom>
          <a:solidFill>
            <a:srgbClr val="FFFFFF"/>
          </a:solidFill>
          <a:ln w="25400">
            <a:solidFill>
              <a:srgbClr val="122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0533" y="2082800"/>
            <a:ext cx="829733" cy="0"/>
          </a:xfrm>
          <a:prstGeom prst="line">
            <a:avLst/>
          </a:prstGeom>
          <a:noFill/>
          <a:ln w="31750">
            <a:solidFill>
              <a:srgbClr val="122A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5733" y="2218267"/>
            <a:ext cx="14393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Interface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(Browser)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99067" y="2963333"/>
            <a:ext cx="592667" cy="474133"/>
          </a:xfrm>
          <a:prstGeom prst="roundRect">
            <a:avLst>
              <a:gd name="adj" fmla="val 23143"/>
            </a:avLst>
          </a:prstGeom>
          <a:solidFill>
            <a:srgbClr val="FFFFFF"/>
          </a:solidFill>
          <a:ln w="25400">
            <a:solidFill>
              <a:srgbClr val="122A8A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75733" y="3572933"/>
            <a:ext cx="14393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(Postman)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-491067" y="4817533"/>
            <a:ext cx="2201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336800" y="982133"/>
            <a:ext cx="7010400" cy="3098800"/>
          </a:xfrm>
          <a:prstGeom prst="roundRect">
            <a:avLst>
              <a:gd name="adj" fmla="val 2361"/>
            </a:avLst>
          </a:prstGeom>
          <a:solidFill>
            <a:srgbClr val="EEF5FE"/>
          </a:solidFill>
          <a:ln w="12700">
            <a:solidFill>
              <a:srgbClr val="C9D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36800" y="1100667"/>
            <a:ext cx="701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(Backend)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506133" y="1507067"/>
            <a:ext cx="2065867" cy="1117600"/>
          </a:xfrm>
          <a:prstGeom prst="roundRect">
            <a:avLst>
              <a:gd name="adj" fmla="val 6545"/>
            </a:avLst>
          </a:prstGeom>
          <a:solidFill>
            <a:srgbClr val="CFE2FB"/>
          </a:solidFill>
          <a:ln>
            <a:solidFill>
              <a:srgbClr val="CFE2FB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Service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(Owns user data)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09067" y="1507067"/>
            <a:ext cx="2065867" cy="1117600"/>
          </a:xfrm>
          <a:prstGeom prst="roundRect">
            <a:avLst>
              <a:gd name="adj" fmla="val 6545"/>
            </a:avLst>
          </a:prstGeom>
          <a:solidFill>
            <a:srgbClr val="E4F6EC"/>
          </a:solidFill>
          <a:ln>
            <a:solidFill>
              <a:srgbClr val="E4F6E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Item Service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(Owns lost item data)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12000" y="1507067"/>
            <a:ext cx="2065867" cy="1117600"/>
          </a:xfrm>
          <a:prstGeom prst="roundRect">
            <a:avLst>
              <a:gd name="adj" fmla="val 6545"/>
            </a:avLst>
          </a:prstGeom>
          <a:solidFill>
            <a:srgbClr val="FFF2DC"/>
          </a:solidFill>
          <a:ln>
            <a:solidFill>
              <a:srgbClr val="FFF2D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Item Service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(Owns found item data)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692400" y="2794000"/>
            <a:ext cx="2904065" cy="999067"/>
          </a:xfrm>
          <a:prstGeom prst="roundRect">
            <a:avLst>
              <a:gd name="adj" fmla="val 7322"/>
            </a:avLst>
          </a:prstGeom>
          <a:solidFill>
            <a:srgbClr val="FDE9EC"/>
          </a:solidFill>
          <a:ln>
            <a:solidFill>
              <a:srgbClr val="FDE9E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Service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(Owns matching data)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554133" y="2794000"/>
            <a:ext cx="3369733" cy="999067"/>
          </a:xfrm>
          <a:prstGeom prst="roundRect">
            <a:avLst>
              <a:gd name="adj" fmla="val 7322"/>
            </a:avLst>
          </a:prstGeom>
          <a:solidFill>
            <a:srgbClr val="EDE7FD"/>
          </a:solidFill>
          <a:ln>
            <a:solidFill>
              <a:srgbClr val="EDE7FD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&amp; Recovery Service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(Owns claim data)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60133" y="4182533"/>
            <a:ext cx="0" cy="491067"/>
          </a:xfrm>
          <a:prstGeom prst="line">
            <a:avLst/>
          </a:prstGeom>
          <a:noFill/>
          <a:ln w="25400">
            <a:solidFill>
              <a:srgbClr val="122A8A"/>
            </a:solidFill>
            <a:prstDash val="solid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842000" y="4182533"/>
            <a:ext cx="0" cy="491067"/>
          </a:xfrm>
          <a:prstGeom prst="line">
            <a:avLst/>
          </a:prstGeom>
          <a:noFill/>
          <a:ln w="25400">
            <a:solidFill>
              <a:srgbClr val="122A8A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23867" y="4182533"/>
            <a:ext cx="0" cy="491067"/>
          </a:xfrm>
          <a:prstGeom prst="line">
            <a:avLst/>
          </a:prstGeom>
          <a:noFill/>
          <a:ln w="25400">
            <a:solidFill>
              <a:srgbClr val="122A8A"/>
            </a:solidFill>
            <a:prstDash val="solid"/>
            <a:headEnd type="triangl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150533" y="2540000"/>
            <a:ext cx="152400" cy="0"/>
          </a:xfrm>
          <a:prstGeom prst="line">
            <a:avLst/>
          </a:prstGeom>
          <a:noFill/>
          <a:ln w="25400">
            <a:solidFill>
              <a:srgbClr val="122A8A"/>
            </a:solidFill>
            <a:prstDash val="solid"/>
            <a:headEnd type="triangl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398000" y="2540000"/>
            <a:ext cx="186267" cy="0"/>
          </a:xfrm>
          <a:prstGeom prst="line">
            <a:avLst/>
          </a:prstGeom>
          <a:noFill/>
          <a:ln w="25400">
            <a:solidFill>
              <a:srgbClr val="122A8A"/>
            </a:solidFill>
            <a:prstDash val="solid"/>
            <a:headEnd type="triangl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74267" y="5283200"/>
            <a:ext cx="135467" cy="0"/>
          </a:xfrm>
          <a:prstGeom prst="line">
            <a:avLst/>
          </a:prstGeom>
          <a:noFill/>
          <a:ln w="25400">
            <a:solidFill>
              <a:srgbClr val="122A8A"/>
            </a:solidFill>
            <a:prstDash val="solid"/>
            <a:headEnd type="triangl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336800" y="4792133"/>
            <a:ext cx="3386667" cy="999067"/>
          </a:xfrm>
          <a:prstGeom prst="roundRect">
            <a:avLst>
              <a:gd name="adj" fmla="val 7322"/>
            </a:avLst>
          </a:prstGeom>
          <a:solidFill>
            <a:srgbClr val="DDEB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540000" y="5029200"/>
            <a:ext cx="3014133" cy="592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communication &amp; stream processing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60533" y="4792133"/>
            <a:ext cx="3386667" cy="999067"/>
          </a:xfrm>
          <a:prstGeom prst="roundRect">
            <a:avLst>
              <a:gd name="adj" fmla="val 7322"/>
            </a:avLst>
          </a:prstGeom>
          <a:solidFill>
            <a:srgbClr val="E4F6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63733" y="5029200"/>
            <a:ext cx="3014133" cy="592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LLM Agent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assistance &amp; intelligent matching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635067" y="897467"/>
            <a:ext cx="2099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(Data Ownership)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635067" y="1405467"/>
            <a:ext cx="2099733" cy="3149600"/>
          </a:xfrm>
          <a:prstGeom prst="roundRect">
            <a:avLst>
              <a:gd name="adj" fmla="val 3484"/>
            </a:avLst>
          </a:prstGeom>
          <a:solidFill>
            <a:srgbClr val="EEF5FE"/>
          </a:solidFill>
          <a:ln w="12700">
            <a:solidFill>
              <a:srgbClr val="C9D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98667" y="1744133"/>
            <a:ext cx="372533" cy="135467"/>
          </a:xfrm>
          <a:prstGeom prst="ellipse">
            <a:avLst/>
          </a:prstGeom>
          <a:solidFill>
            <a:srgbClr val="EEF5FE"/>
          </a:solidFill>
          <a:ln w="25400">
            <a:solidFill>
              <a:srgbClr val="122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98667" y="1879600"/>
            <a:ext cx="372533" cy="135467"/>
          </a:xfrm>
          <a:prstGeom prst="ellipse">
            <a:avLst/>
          </a:prstGeom>
          <a:solidFill>
            <a:srgbClr val="EEF5FE"/>
          </a:solidFill>
          <a:ln w="25400">
            <a:solidFill>
              <a:srgbClr val="122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98667" y="2015067"/>
            <a:ext cx="372533" cy="135467"/>
          </a:xfrm>
          <a:prstGeom prst="ellipse">
            <a:avLst/>
          </a:prstGeom>
          <a:solidFill>
            <a:srgbClr val="EEF5FE"/>
          </a:solidFill>
          <a:ln w="25400">
            <a:solidFill>
              <a:srgbClr val="122A8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19733" y="2540000"/>
            <a:ext cx="19304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its data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719733" y="3318933"/>
            <a:ext cx="19304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for local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/ testing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8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" y="76200"/>
            <a:ext cx="12039600" cy="670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 dirty="0"/>
          </a:p>
        </p:txBody>
      </p:sp>
      <p:sp>
        <p:nvSpPr>
          <p:cNvPr id="4" name="Shape 2"/>
          <p:cNvSpPr/>
          <p:nvPr/>
        </p:nvSpPr>
        <p:spPr>
          <a:xfrm>
            <a:off x="76200" y="76200"/>
            <a:ext cx="558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1303000" y="6223000"/>
            <a:ext cx="812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22000" y="186267"/>
            <a:ext cx="84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A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4933" y="237067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Progress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43429" y="931333"/>
            <a:ext cx="10359571" cy="372533"/>
          </a:xfrm>
          <a:prstGeom prst="roundRect">
            <a:avLst>
              <a:gd name="adj" fmla="val 19636"/>
            </a:avLst>
          </a:prstGeom>
          <a:solidFill>
            <a:srgbClr val="DCEA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0801" y="959152"/>
            <a:ext cx="33866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/ Component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323613" y="963990"/>
            <a:ext cx="16933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03866" y="1402444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domain analysis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419166" y="1337734"/>
            <a:ext cx="1502229" cy="372533"/>
          </a:xfrm>
          <a:prstGeom prst="roundRect">
            <a:avLst>
              <a:gd name="adj" fmla="val 158823"/>
            </a:avLst>
          </a:prstGeom>
          <a:solidFill>
            <a:srgbClr val="E6F7EE"/>
          </a:solidFill>
          <a:ln>
            <a:solidFill>
              <a:srgbClr val="E6F7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600" dirty="0">
                <a:solidFill>
                  <a:srgbClr val="0E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flipV="1">
            <a:off x="943429" y="1777999"/>
            <a:ext cx="5474305" cy="22981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3429" y="1778000"/>
            <a:ext cx="10359571" cy="474133"/>
          </a:xfrm>
          <a:prstGeom prst="rect">
            <a:avLst/>
          </a:prstGeom>
          <a:solidFill>
            <a:srgbClr val="F7FA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03866" y="1877181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contexts (DDD)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419166" y="1837866"/>
            <a:ext cx="1468968" cy="348346"/>
          </a:xfrm>
          <a:prstGeom prst="roundRect">
            <a:avLst>
              <a:gd name="adj" fmla="val 158823"/>
            </a:avLst>
          </a:prstGeom>
          <a:solidFill>
            <a:srgbClr val="E6F7EE"/>
          </a:solidFill>
          <a:ln>
            <a:solidFill>
              <a:srgbClr val="E6F7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600" dirty="0">
                <a:solidFill>
                  <a:srgbClr val="0E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43429" y="2252132"/>
            <a:ext cx="5474305" cy="1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03866" y="2350103"/>
            <a:ext cx="5115078" cy="406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 structure (project setup, basic skeleton)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419166" y="2370666"/>
            <a:ext cx="1456267" cy="287867"/>
          </a:xfrm>
          <a:prstGeom prst="roundRect">
            <a:avLst>
              <a:gd name="adj" fmla="val 158823"/>
            </a:avLst>
          </a:prstGeom>
          <a:solidFill>
            <a:srgbClr val="FFF3D6"/>
          </a:solidFill>
          <a:ln>
            <a:solidFill>
              <a:srgbClr val="FFF3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600" dirty="0">
                <a:solidFill>
                  <a:srgbClr val="D9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 flipV="1">
            <a:off x="943425" y="2777066"/>
            <a:ext cx="5474309" cy="51377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3427" y="2777067"/>
            <a:ext cx="10359571" cy="474133"/>
          </a:xfrm>
          <a:prstGeom prst="rect">
            <a:avLst/>
          </a:prstGeom>
          <a:solidFill>
            <a:srgbClr val="F7FA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03866" y="2861735"/>
            <a:ext cx="4189790" cy="347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REST APIs (endpoints &amp; business logic)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419165" y="2874433"/>
            <a:ext cx="1456267" cy="287867"/>
          </a:xfrm>
          <a:prstGeom prst="roundRect">
            <a:avLst>
              <a:gd name="adj" fmla="val 158823"/>
            </a:avLst>
          </a:prstGeom>
          <a:solidFill>
            <a:srgbClr val="FFF3D6"/>
          </a:solidFill>
          <a:ln>
            <a:solidFill>
              <a:srgbClr val="FFF3D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D9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600" dirty="0">
                <a:solidFill>
                  <a:srgbClr val="D9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3425" y="3251200"/>
            <a:ext cx="5474309" cy="0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03866" y="3323167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integration (H2 + JPA)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 flipV="1">
            <a:off x="943425" y="3725332"/>
            <a:ext cx="5474309" cy="33867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3425" y="3725333"/>
            <a:ext cx="10359571" cy="524933"/>
          </a:xfrm>
          <a:prstGeom prst="rect">
            <a:avLst/>
          </a:prstGeom>
          <a:solidFill>
            <a:srgbClr val="F7FA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303866" y="3835400"/>
            <a:ext cx="44220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integration (event publishing &amp; consuming)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 flipV="1">
            <a:off x="943425" y="4250266"/>
            <a:ext cx="5474309" cy="22971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320801" y="4334932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 (LangChain4j)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43425" y="4724400"/>
            <a:ext cx="5474309" cy="0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3425" y="4724400"/>
            <a:ext cx="10359571" cy="474133"/>
          </a:xfrm>
          <a:prstGeom prst="rect">
            <a:avLst/>
          </a:prstGeom>
          <a:solidFill>
            <a:srgbClr val="F7FA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82097" y="4809067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and documentation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43425" y="5198533"/>
            <a:ext cx="5474309" cy="0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062960" y="1069218"/>
            <a:ext cx="1456269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6807200" y="3115733"/>
            <a:ext cx="23876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279467" y="3115733"/>
            <a:ext cx="23876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9279467" y="5401733"/>
            <a:ext cx="23876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endParaRPr lang="en-US" sz="1300" dirty="0"/>
          </a:p>
        </p:txBody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3B1CB610-115F-2CAE-9C8E-48127BF225F7}"/>
              </a:ext>
            </a:extLst>
          </p:cNvPr>
          <p:cNvSpPr txBox="1"/>
          <p:nvPr/>
        </p:nvSpPr>
        <p:spPr>
          <a:xfrm>
            <a:off x="9410695" y="3826933"/>
            <a:ext cx="1456267" cy="287867"/>
          </a:xfrm>
          <a:prstGeom prst="roundRect">
            <a:avLst>
              <a:gd name="adj" fmla="val 158823"/>
            </a:avLst>
          </a:prstGeom>
          <a:solidFill>
            <a:srgbClr val="F1F4F9"/>
          </a:solidFill>
          <a:ln>
            <a:solidFill>
              <a:srgbClr val="F1F4F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9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r>
              <a:rPr lang="en-US" sz="1600" dirty="0">
                <a:solidFill>
                  <a:srgbClr val="7C8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600" dirty="0"/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CE7DF913-275A-EB80-12FA-085BA83B18F9}"/>
              </a:ext>
            </a:extLst>
          </p:cNvPr>
          <p:cNvSpPr txBox="1"/>
          <p:nvPr/>
        </p:nvSpPr>
        <p:spPr>
          <a:xfrm>
            <a:off x="9431867" y="4337351"/>
            <a:ext cx="1456267" cy="287867"/>
          </a:xfrm>
          <a:prstGeom prst="roundRect">
            <a:avLst>
              <a:gd name="adj" fmla="val 158823"/>
            </a:avLst>
          </a:prstGeom>
          <a:solidFill>
            <a:srgbClr val="F1F4F9"/>
          </a:solidFill>
          <a:ln>
            <a:solidFill>
              <a:srgbClr val="F1F4F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9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r>
              <a:rPr lang="en-US" sz="1600" dirty="0">
                <a:solidFill>
                  <a:srgbClr val="7C8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600" dirty="0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7BCB3A66-DFD8-44AE-D6D4-493AEA7481FB}"/>
              </a:ext>
            </a:extLst>
          </p:cNvPr>
          <p:cNvSpPr txBox="1"/>
          <p:nvPr/>
        </p:nvSpPr>
        <p:spPr>
          <a:xfrm>
            <a:off x="9419164" y="4818743"/>
            <a:ext cx="1456267" cy="287867"/>
          </a:xfrm>
          <a:prstGeom prst="roundRect">
            <a:avLst>
              <a:gd name="adj" fmla="val 158823"/>
            </a:avLst>
          </a:prstGeom>
          <a:solidFill>
            <a:srgbClr val="F1F4F9"/>
          </a:solidFill>
          <a:ln>
            <a:solidFill>
              <a:srgbClr val="F1F4F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9B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r>
              <a:rPr lang="en-US" sz="1600" dirty="0">
                <a:solidFill>
                  <a:srgbClr val="7C8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6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C9CE2D47-21B4-EE11-A6BF-26C8B40971AB}"/>
              </a:ext>
            </a:extLst>
          </p:cNvPr>
          <p:cNvSpPr txBox="1"/>
          <p:nvPr/>
        </p:nvSpPr>
        <p:spPr>
          <a:xfrm>
            <a:off x="9408164" y="3335866"/>
            <a:ext cx="1456267" cy="287867"/>
          </a:xfrm>
          <a:prstGeom prst="roundRect">
            <a:avLst>
              <a:gd name="adj" fmla="val 158823"/>
            </a:avLst>
          </a:prstGeom>
          <a:solidFill>
            <a:srgbClr val="FFF3D6"/>
          </a:solidFill>
          <a:ln>
            <a:solidFill>
              <a:srgbClr val="FFF3D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D9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600" dirty="0">
                <a:solidFill>
                  <a:srgbClr val="D9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A44CB-C249-0AAF-6C95-625FCB7AF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277EAA-376E-1D7D-B600-53402EEB8F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8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15E1643-A30A-311A-A57B-FC3D6D40F533}"/>
              </a:ext>
            </a:extLst>
          </p:cNvPr>
          <p:cNvSpPr/>
          <p:nvPr/>
        </p:nvSpPr>
        <p:spPr>
          <a:xfrm>
            <a:off x="76200" y="76200"/>
            <a:ext cx="12039600" cy="670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1DA53C-8A0B-1CF7-CDE0-10B792368B50}"/>
              </a:ext>
            </a:extLst>
          </p:cNvPr>
          <p:cNvSpPr/>
          <p:nvPr/>
        </p:nvSpPr>
        <p:spPr>
          <a:xfrm>
            <a:off x="76200" y="76200"/>
            <a:ext cx="558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CA43046-E3DD-EBE1-6428-2A448BBE7131}"/>
              </a:ext>
            </a:extLst>
          </p:cNvPr>
          <p:cNvSpPr/>
          <p:nvPr/>
        </p:nvSpPr>
        <p:spPr>
          <a:xfrm rot="10800000">
            <a:off x="11303000" y="6223000"/>
            <a:ext cx="812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A32E52A-01B5-0BBE-2861-4A68278FF9C4}"/>
              </a:ext>
            </a:extLst>
          </p:cNvPr>
          <p:cNvSpPr txBox="1"/>
          <p:nvPr/>
        </p:nvSpPr>
        <p:spPr>
          <a:xfrm>
            <a:off x="10922000" y="186267"/>
            <a:ext cx="84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A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6/11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82D3C66-756A-497A-3509-534B7576653F}"/>
              </a:ext>
            </a:extLst>
          </p:cNvPr>
          <p:cNvSpPr txBox="1"/>
          <p:nvPr/>
        </p:nvSpPr>
        <p:spPr>
          <a:xfrm>
            <a:off x="762000" y="181429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600" b="1" dirty="0">
                <a:solidFill>
                  <a:srgbClr val="4A8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(Live / Screenshots)</a:t>
            </a:r>
            <a:endParaRPr lang="en-US" sz="36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F1DB7AA-BFED-DD3E-F12B-295D31A6DF0B}"/>
              </a:ext>
            </a:extLst>
          </p:cNvPr>
          <p:cNvSpPr txBox="1"/>
          <p:nvPr/>
        </p:nvSpPr>
        <p:spPr>
          <a:xfrm>
            <a:off x="7061200" y="9144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1BC0EA50-B40B-96EC-0B03-9DAFEE420CC6}"/>
              </a:ext>
            </a:extLst>
          </p:cNvPr>
          <p:cNvSpPr txBox="1"/>
          <p:nvPr/>
        </p:nvSpPr>
        <p:spPr>
          <a:xfrm>
            <a:off x="1926718" y="6174621"/>
            <a:ext cx="23876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6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600" dirty="0"/>
          </a:p>
          <a:p>
            <a:pPr algn="ctr">
              <a:lnSpc>
                <a:spcPct val="115000"/>
              </a:lnSpc>
            </a:pPr>
            <a:r>
              <a:rPr lang="en-US" sz="16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(code structure)</a:t>
            </a:r>
            <a:endParaRPr lang="en-US" sz="16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5F455EB-3419-3E18-6D9E-EC08EA63ECEF}"/>
              </a:ext>
            </a:extLst>
          </p:cNvPr>
          <p:cNvSpPr txBox="1"/>
          <p:nvPr/>
        </p:nvSpPr>
        <p:spPr>
          <a:xfrm>
            <a:off x="7861519" y="6164948"/>
            <a:ext cx="23876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(API testing)</a:t>
            </a:r>
            <a:endParaRPr lang="en-US" sz="16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B5AD7B26-A03F-C996-D372-5D570A745935}"/>
              </a:ext>
            </a:extLst>
          </p:cNvPr>
          <p:cNvSpPr txBox="1"/>
          <p:nvPr/>
        </p:nvSpPr>
        <p:spPr>
          <a:xfrm>
            <a:off x="6807200" y="5401733"/>
            <a:ext cx="23876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endParaRPr lang="en-US" sz="13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4F263C5D-D31E-D406-0E95-3A57CBA4B680}"/>
              </a:ext>
            </a:extLst>
          </p:cNvPr>
          <p:cNvSpPr txBox="1"/>
          <p:nvPr/>
        </p:nvSpPr>
        <p:spPr>
          <a:xfrm>
            <a:off x="9279467" y="5401733"/>
            <a:ext cx="23876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endParaRPr lang="en-US" sz="13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70C48511-2376-B245-0443-B58B732AC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18" y="1041400"/>
            <a:ext cx="5922600" cy="500778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E44D571-0E97-9F3F-B80A-B3D5C0358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836" y="1049264"/>
            <a:ext cx="5867945" cy="498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783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A25CD-E063-5B1F-2CF4-331D1C1BA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9F1423-85F9-7DCD-14D9-42A92CD12A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8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8EBBCA0-2AB5-A1B5-F5C0-867310BCA8B2}"/>
              </a:ext>
            </a:extLst>
          </p:cNvPr>
          <p:cNvSpPr/>
          <p:nvPr/>
        </p:nvSpPr>
        <p:spPr>
          <a:xfrm>
            <a:off x="76200" y="76200"/>
            <a:ext cx="12039600" cy="670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B61FA7-891C-C6D4-45A3-B8D202DFABD5}"/>
              </a:ext>
            </a:extLst>
          </p:cNvPr>
          <p:cNvSpPr/>
          <p:nvPr/>
        </p:nvSpPr>
        <p:spPr>
          <a:xfrm>
            <a:off x="76200" y="76200"/>
            <a:ext cx="558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8D0BFBB-7702-6FE1-9D69-58DA1FFEB9B8}"/>
              </a:ext>
            </a:extLst>
          </p:cNvPr>
          <p:cNvSpPr/>
          <p:nvPr/>
        </p:nvSpPr>
        <p:spPr>
          <a:xfrm rot="10800000">
            <a:off x="11303000" y="6223000"/>
            <a:ext cx="812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1AD3B4-C674-FAB4-6D65-BF98F2000814}"/>
              </a:ext>
            </a:extLst>
          </p:cNvPr>
          <p:cNvSpPr txBox="1"/>
          <p:nvPr/>
        </p:nvSpPr>
        <p:spPr>
          <a:xfrm>
            <a:off x="10922000" y="186267"/>
            <a:ext cx="84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A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7/11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FB8614B-CE75-DDAF-961F-2FA43A6A6D6E}"/>
              </a:ext>
            </a:extLst>
          </p:cNvPr>
          <p:cNvSpPr txBox="1"/>
          <p:nvPr/>
        </p:nvSpPr>
        <p:spPr>
          <a:xfrm>
            <a:off x="762000" y="181429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600" b="1" dirty="0">
                <a:solidFill>
                  <a:srgbClr val="4A8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(Live / Screenshots)</a:t>
            </a:r>
            <a:endParaRPr lang="en-US" sz="36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201AFC2C-B985-7D85-BB68-6BD9B5FA1DFA}"/>
              </a:ext>
            </a:extLst>
          </p:cNvPr>
          <p:cNvSpPr txBox="1"/>
          <p:nvPr/>
        </p:nvSpPr>
        <p:spPr>
          <a:xfrm>
            <a:off x="7061200" y="9144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E2A0E9C-CD22-FECF-E50D-347DB14AB82E}"/>
              </a:ext>
            </a:extLst>
          </p:cNvPr>
          <p:cNvSpPr txBox="1"/>
          <p:nvPr/>
        </p:nvSpPr>
        <p:spPr>
          <a:xfrm>
            <a:off x="1926718" y="6174621"/>
            <a:ext cx="23876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6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Application</a:t>
            </a:r>
            <a:endParaRPr lang="en-US" sz="1600" dirty="0"/>
          </a:p>
          <a:p>
            <a:pPr algn="ctr"/>
            <a:r>
              <a:rPr lang="en-VN" sz="1100" dirty="0"/>
              <a:t>(API / service demo)</a:t>
            </a:r>
            <a:endParaRPr lang="en-US" sz="16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ECFEA0D-30BD-28EA-A6D8-63F75ACEA97A}"/>
              </a:ext>
            </a:extLst>
          </p:cNvPr>
          <p:cNvSpPr txBox="1"/>
          <p:nvPr/>
        </p:nvSpPr>
        <p:spPr>
          <a:xfrm>
            <a:off x="7877684" y="6174621"/>
            <a:ext cx="2791968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600" b="1" dirty="0">
                <a:solidFill>
                  <a:srgbClr val="0B1B6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Service Logs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5A647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</a:t>
            </a:r>
            <a:r>
              <a:rPr lang="en-VN" sz="1600" dirty="0"/>
              <a:t>backend processing logs</a:t>
            </a:r>
            <a:r>
              <a:rPr lang="en-US" sz="1600" dirty="0">
                <a:solidFill>
                  <a:srgbClr val="5A647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CD81BF14-A16A-BBC7-6F7B-5F40FB74691E}"/>
              </a:ext>
            </a:extLst>
          </p:cNvPr>
          <p:cNvSpPr txBox="1"/>
          <p:nvPr/>
        </p:nvSpPr>
        <p:spPr>
          <a:xfrm>
            <a:off x="6807200" y="5401733"/>
            <a:ext cx="23876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endParaRPr lang="en-US" sz="13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E738E48-31AC-9AD1-B9BD-D64C0219D2AE}"/>
              </a:ext>
            </a:extLst>
          </p:cNvPr>
          <p:cNvSpPr txBox="1"/>
          <p:nvPr/>
        </p:nvSpPr>
        <p:spPr>
          <a:xfrm>
            <a:off x="9279467" y="5401733"/>
            <a:ext cx="23876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8A1595-4FB4-E7D9-1092-8FCEAE75D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61" y="1049264"/>
            <a:ext cx="5922107" cy="4941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6264AB-8C11-D956-7BF8-43FC8083F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025" y="1049263"/>
            <a:ext cx="5844914" cy="494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49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8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" y="76200"/>
            <a:ext cx="12039600" cy="670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" y="76200"/>
            <a:ext cx="558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1303000" y="6223000"/>
            <a:ext cx="812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22000" y="186267"/>
            <a:ext cx="84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A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4933" y="237067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Event, Real-time &amp; </a:t>
            </a:r>
            <a:r>
              <a:rPr lang="en-US" sz="3300" b="1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Design Progress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491067" y="914400"/>
            <a:ext cx="321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Events (Kafka)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7333" y="1761067"/>
            <a:ext cx="0" cy="2455333"/>
          </a:xfrm>
          <a:prstGeom prst="line">
            <a:avLst/>
          </a:prstGeom>
          <a:noFill/>
          <a:ln w="31750">
            <a:solidFill>
              <a:srgbClr val="4A86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600" y="1693333"/>
            <a:ext cx="135467" cy="135467"/>
          </a:xfrm>
          <a:prstGeom prst="ellips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651000"/>
            <a:ext cx="25400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LostItemReported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600" y="2184400"/>
            <a:ext cx="135467" cy="135467"/>
          </a:xfrm>
          <a:prstGeom prst="ellips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142067"/>
            <a:ext cx="25400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FoundItemReported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600" y="2675467"/>
            <a:ext cx="135467" cy="135467"/>
          </a:xfrm>
          <a:prstGeom prst="ellips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2633133"/>
            <a:ext cx="25400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PotentialMatchFound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600" y="3166533"/>
            <a:ext cx="135467" cy="135467"/>
          </a:xfrm>
          <a:prstGeom prst="ellips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124200"/>
            <a:ext cx="25400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ClaimSubmitted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9600" y="3657600"/>
            <a:ext cx="135467" cy="135467"/>
          </a:xfrm>
          <a:prstGeom prst="ellips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615267"/>
            <a:ext cx="25400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ClaimVerified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9600" y="4148667"/>
            <a:ext cx="135467" cy="135467"/>
          </a:xfrm>
          <a:prstGeom prst="ellips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106333"/>
            <a:ext cx="25400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ItemRecovered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91067" y="4995333"/>
            <a:ext cx="3149600" cy="711200"/>
          </a:xfrm>
          <a:prstGeom prst="roundRect">
            <a:avLst>
              <a:gd name="adj" fmla="val 10286"/>
            </a:avLst>
          </a:prstGeom>
          <a:solidFill>
            <a:srgbClr val="EEF5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0400" y="5181600"/>
            <a:ext cx="282786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enable real-time communication between microservices.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911600" y="846667"/>
            <a:ext cx="3640667" cy="5080000"/>
          </a:xfrm>
          <a:prstGeom prst="roundRect">
            <a:avLst>
              <a:gd name="adj" fmla="val 2009"/>
            </a:avLst>
          </a:prstGeom>
          <a:solidFill>
            <a:srgbClr val="FDE9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0" y="931333"/>
            <a:ext cx="338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4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Features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1456267"/>
            <a:ext cx="330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Notifications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148667" y="1803400"/>
            <a:ext cx="169333" cy="169333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419600" y="1794933"/>
            <a:ext cx="291253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users when a potential match is found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148667" y="2260600"/>
            <a:ext cx="169333" cy="169333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419600" y="2252133"/>
            <a:ext cx="291253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real-time updates when a claim status changes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0" y="2794000"/>
            <a:ext cx="330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Processing (Real-time Analysis)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148667" y="3141133"/>
            <a:ext cx="169333" cy="169333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419600" y="3132667"/>
            <a:ext cx="2912533" cy="524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item activity by category / location (e.g. number of lost and found items over time)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148667" y="3835400"/>
            <a:ext cx="169333" cy="169333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419600" y="3826933"/>
            <a:ext cx="2912533" cy="524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VN" sz="1200" dirty="0"/>
              <a:t>Track potential matches as new lost and found reports arrive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0" y="5249333"/>
            <a:ext cx="32681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Kafka and stream processing to provide real-time insights and updates.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806267" y="846667"/>
            <a:ext cx="3894667" cy="5080000"/>
          </a:xfrm>
          <a:prstGeom prst="roundRect">
            <a:avLst>
              <a:gd name="adj" fmla="val 1878"/>
            </a:avLst>
          </a:prstGeom>
          <a:solidFill>
            <a:srgbClr val="E4F6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26400" y="931333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Features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026400" y="1456267"/>
            <a:ext cx="33866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Reporting Assistant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060267" y="1803400"/>
            <a:ext cx="169333" cy="169333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331200" y="1794933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information from natural language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060267" y="2108200"/>
            <a:ext cx="169333" cy="169333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8331200" y="2099733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follow-up questions for missing details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060267" y="2413000"/>
            <a:ext cx="169333" cy="169333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8331200" y="2404533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Populates a structured item report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026400" y="2810933"/>
            <a:ext cx="33866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Search &amp; Matching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8060267" y="3158067"/>
            <a:ext cx="169333" cy="169333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8331200" y="3149600"/>
            <a:ext cx="3149600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relevant follow-up questions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060267" y="3462867"/>
            <a:ext cx="169333" cy="169333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8331200" y="3454400"/>
            <a:ext cx="3149600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Narrows and ranks potential matches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8060267" y="3767667"/>
            <a:ext cx="169333" cy="169333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8331200" y="3759200"/>
            <a:ext cx="3149600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large search result sets to the most relevant items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026400" y="5249333"/>
            <a:ext cx="34544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Leverages LLM / AI agents to improve reporting and matching experience.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8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" y="76200"/>
            <a:ext cx="12039600" cy="670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" y="76200"/>
            <a:ext cx="558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1303000" y="6223000"/>
            <a:ext cx="812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22000" y="186267"/>
            <a:ext cx="84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A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4933" y="237067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Design Decisions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491067" y="846667"/>
            <a:ext cx="5418667" cy="5080000"/>
          </a:xfrm>
          <a:prstGeom prst="roundRect">
            <a:avLst>
              <a:gd name="adj" fmla="val 1440"/>
            </a:avLst>
          </a:prstGeom>
          <a:solidFill>
            <a:srgbClr val="FDE9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8933" y="931333"/>
            <a:ext cx="338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4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34667" y="846667"/>
            <a:ext cx="5266267" cy="5080000"/>
          </a:xfrm>
          <a:prstGeom prst="roundRect">
            <a:avLst>
              <a:gd name="adj" fmla="val 1440"/>
            </a:avLst>
          </a:prstGeom>
          <a:solidFill>
            <a:srgbClr val="E4F6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2533" y="931333"/>
            <a:ext cx="338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7333" y="1490133"/>
            <a:ext cx="5046133" cy="778933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6667" y="1727200"/>
            <a:ext cx="304800" cy="304800"/>
          </a:xfrm>
          <a:prstGeom prst="ellipse">
            <a:avLst/>
          </a:prstGeom>
          <a:solidFill>
            <a:srgbClr val="E8455F"/>
          </a:solidFill>
          <a:ln>
            <a:solidFill>
              <a:srgbClr val="E845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70000" y="1574800"/>
            <a:ext cx="423333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imprecise user input (e.g. vague descriptions)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20933" y="1490133"/>
            <a:ext cx="4893733" cy="778933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73333" y="1778000"/>
            <a:ext cx="203200" cy="203200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12000" y="1574800"/>
            <a:ext cx="423333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ask targeted follow-up questions and extract key information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26667" y="1879600"/>
            <a:ext cx="457200" cy="0"/>
          </a:xfrm>
          <a:prstGeom prst="line">
            <a:avLst/>
          </a:prstGeom>
          <a:noFill/>
          <a:ln w="25400">
            <a:solidFill>
              <a:srgbClr val="4A86F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7333" y="2421467"/>
            <a:ext cx="5046133" cy="592667"/>
          </a:xfrm>
          <a:prstGeom prst="roundRect">
            <a:avLst>
              <a:gd name="adj" fmla="val 123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6667" y="2565400"/>
            <a:ext cx="304800" cy="304800"/>
          </a:xfrm>
          <a:prstGeom prst="ellipse">
            <a:avLst/>
          </a:prstGeom>
          <a:solidFill>
            <a:srgbClr val="E8455F"/>
          </a:solidFill>
          <a:ln>
            <a:solidFill>
              <a:srgbClr val="E845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70000" y="2506133"/>
            <a:ext cx="42333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similar search results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0933" y="2421467"/>
            <a:ext cx="4893733" cy="592667"/>
          </a:xfrm>
          <a:prstGeom prst="roundRect">
            <a:avLst>
              <a:gd name="adj" fmla="val 123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73333" y="2616200"/>
            <a:ext cx="203200" cy="203200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112000" y="2506133"/>
            <a:ext cx="42333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conventional search with AI-assisted ranking and filtering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26667" y="2717800"/>
            <a:ext cx="457200" cy="0"/>
          </a:xfrm>
          <a:prstGeom prst="line">
            <a:avLst/>
          </a:prstGeom>
          <a:noFill/>
          <a:ln w="25400">
            <a:solidFill>
              <a:srgbClr val="4A86F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77333" y="3166533"/>
            <a:ext cx="5046133" cy="778933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6667" y="3403600"/>
            <a:ext cx="304800" cy="304800"/>
          </a:xfrm>
          <a:prstGeom prst="ellipse">
            <a:avLst/>
          </a:prstGeom>
          <a:solidFill>
            <a:srgbClr val="E8455F"/>
          </a:solidFill>
          <a:ln>
            <a:solidFill>
              <a:srgbClr val="E845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270000" y="3251200"/>
            <a:ext cx="423333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secure and fair ownership verification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620933" y="3166533"/>
            <a:ext cx="4893733" cy="778933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73333" y="3454400"/>
            <a:ext cx="203200" cy="203200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112000" y="3251200"/>
            <a:ext cx="423333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Finder makes the final ownership verification decision (human-in-the-loop)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26667" y="3556000"/>
            <a:ext cx="457200" cy="0"/>
          </a:xfrm>
          <a:prstGeom prst="line">
            <a:avLst/>
          </a:prstGeom>
          <a:noFill/>
          <a:ln w="25400">
            <a:solidFill>
              <a:srgbClr val="4A86F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77333" y="4097867"/>
            <a:ext cx="5046133" cy="778933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6667" y="4334933"/>
            <a:ext cx="304800" cy="304800"/>
          </a:xfrm>
          <a:prstGeom prst="ellipse">
            <a:avLst/>
          </a:prstGeom>
          <a:solidFill>
            <a:srgbClr val="E8455F"/>
          </a:solidFill>
          <a:ln>
            <a:solidFill>
              <a:srgbClr val="E845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270000" y="4182533"/>
            <a:ext cx="423333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real-time communication and stream processing between services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620933" y="4097867"/>
            <a:ext cx="4893733" cy="778933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73333" y="4385733"/>
            <a:ext cx="203200" cy="203200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112000" y="4182533"/>
            <a:ext cx="423333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event-driven architecture with Kafka and implement stream processing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926667" y="4487333"/>
            <a:ext cx="457200" cy="0"/>
          </a:xfrm>
          <a:prstGeom prst="line">
            <a:avLst/>
          </a:prstGeom>
          <a:noFill/>
          <a:ln w="25400">
            <a:solidFill>
              <a:srgbClr val="4A86F7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77333" y="5029200"/>
            <a:ext cx="5046133" cy="778933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46667" y="5266267"/>
            <a:ext cx="304800" cy="304800"/>
          </a:xfrm>
          <a:prstGeom prst="ellipse">
            <a:avLst/>
          </a:prstGeom>
          <a:solidFill>
            <a:srgbClr val="E8455F"/>
          </a:solidFill>
          <a:ln>
            <a:solidFill>
              <a:srgbClr val="E845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270000" y="5113867"/>
            <a:ext cx="423333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Coordinating and integrating multiple microservices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620933" y="5029200"/>
            <a:ext cx="4893733" cy="778933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773333" y="5317067"/>
            <a:ext cx="203200" cy="203200"/>
          </a:xfrm>
          <a:prstGeom prst="ellipse">
            <a:avLst/>
          </a:prstGeom>
          <a:solidFill>
            <a:srgbClr val="1FA968"/>
          </a:solidFill>
          <a:ln>
            <a:solidFill>
              <a:srgbClr val="1FA9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112000" y="5113867"/>
            <a:ext cx="423333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VN" sz="1400" dirty="0"/>
              <a:t>Align each microservice with a DDD bounded context to keep responsibilities clear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926667" y="5418667"/>
            <a:ext cx="457200" cy="0"/>
          </a:xfrm>
          <a:prstGeom prst="line">
            <a:avLst/>
          </a:prstGeom>
          <a:noFill/>
          <a:ln w="25400">
            <a:solidFill>
              <a:srgbClr val="4A86F7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8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" y="76200"/>
            <a:ext cx="12039600" cy="670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" y="76200"/>
            <a:ext cx="558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1303000" y="6223000"/>
            <a:ext cx="812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22000" y="186267"/>
            <a:ext cx="84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A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4933" y="237067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Plan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491067" y="1083733"/>
            <a:ext cx="2777067" cy="660400"/>
          </a:xfrm>
          <a:prstGeom prst="chevron">
            <a:avLst/>
          </a:prstGeom>
          <a:solidFill>
            <a:srgbClr val="BFD6F8"/>
          </a:solidFill>
          <a:ln>
            <a:solidFill>
              <a:srgbClr val="BFD6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8 - 9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Implementation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86467" y="2074333"/>
            <a:ext cx="186267" cy="18626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86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5867" y="1083733"/>
            <a:ext cx="2777067" cy="660400"/>
          </a:xfrm>
          <a:prstGeom prst="chevron">
            <a:avLst/>
          </a:prstGeom>
          <a:solidFill>
            <a:srgbClr val="9CC0F4"/>
          </a:solidFill>
          <a:ln>
            <a:solidFill>
              <a:srgbClr val="9CC0F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9 - 10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Processing &amp; AI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31267" y="2074333"/>
            <a:ext cx="186267" cy="18626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86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80667" y="1083733"/>
            <a:ext cx="2777067" cy="660400"/>
          </a:xfrm>
          <a:prstGeom prst="chevron">
            <a:avLst/>
          </a:prstGeom>
          <a:solidFill>
            <a:srgbClr val="6FA2F0"/>
          </a:solidFill>
          <a:ln>
            <a:solidFill>
              <a:srgbClr val="6FA2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10 - 11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Integration, Testing &amp; Report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76067" y="2074333"/>
            <a:ext cx="186267" cy="18626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86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25467" y="1083733"/>
            <a:ext cx="2777067" cy="660400"/>
          </a:xfrm>
          <a:prstGeom prst="chevron">
            <a:avLst/>
          </a:prstGeom>
          <a:solidFill>
            <a:srgbClr val="2F5FD0"/>
          </a:solidFill>
          <a:ln>
            <a:solidFill>
              <a:srgbClr val="2F5F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Submission &amp; Presentation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320867" y="2074333"/>
            <a:ext cx="186267" cy="18626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86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067" y="2167467"/>
            <a:ext cx="11209867" cy="0"/>
          </a:xfrm>
          <a:prstGeom prst="line">
            <a:avLst/>
          </a:prstGeom>
          <a:noFill/>
          <a:ln w="25400">
            <a:solidFill>
              <a:srgbClr val="122A8A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09600" y="2540000"/>
            <a:ext cx="2556933" cy="169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core REST APIs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persistence (H2 + JPA)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services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Kafka integration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454400" y="2540000"/>
            <a:ext cx="2556933" cy="169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2 stream-processing user stories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AI reporting assistant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AI search &amp; matching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AI testing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99200" y="2540000"/>
            <a:ext cx="2556933" cy="169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integration testing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system documentation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 diagrams and analysis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demo environment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proofreading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540000"/>
            <a:ext cx="2556933" cy="169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report and source code repository (ZIP)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demonstration (Week 12 Lab or Lecture)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presentation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for Q&amp;A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1067" y="4402667"/>
            <a:ext cx="11209867" cy="812800"/>
          </a:xfrm>
          <a:prstGeom prst="roundRect">
            <a:avLst>
              <a:gd name="adj" fmla="val 9000"/>
            </a:avLst>
          </a:prstGeom>
          <a:solidFill>
            <a:srgbClr val="EEF5FE"/>
          </a:solidFill>
          <a:ln w="12700">
            <a:solidFill>
              <a:srgbClr val="C9D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1200" y="4572000"/>
            <a:ext cx="107865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end-to-end system with Kafka, stream processing and AI features by Week 11, then final report, demonstration and presentation in Week 12.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1067" y="5571067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86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" y="76200"/>
            <a:ext cx="12039600" cy="670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" y="76200"/>
            <a:ext cx="558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1303000" y="6223000"/>
            <a:ext cx="812800" cy="558800"/>
          </a:xfrm>
          <a:prstGeom prst="rtTriangle">
            <a:avLst/>
          </a:prstGeom>
          <a:solidFill>
            <a:srgbClr val="4A86F7"/>
          </a:solidFill>
          <a:ln w="12700">
            <a:solidFill>
              <a:srgbClr val="4A8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22000" y="186267"/>
            <a:ext cx="84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A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4933" y="237067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Contributions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491067" y="999067"/>
            <a:ext cx="11277600" cy="474133"/>
          </a:xfrm>
          <a:prstGeom prst="roundRect">
            <a:avLst>
              <a:gd name="adj" fmla="val 15429"/>
            </a:avLst>
          </a:prstGeom>
          <a:solidFill>
            <a:srgbClr val="DCEA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1067" y="1016000"/>
            <a:ext cx="2116667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607733" y="1016000"/>
            <a:ext cx="2878667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Responsibilities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016000"/>
            <a:ext cx="3556000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So Far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042400" y="1016000"/>
            <a:ext cx="2726267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(individual contribution)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0400" y="1473200"/>
            <a:ext cx="1778000" cy="149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Nguyen Thanh Van To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77067" y="1473200"/>
            <a:ext cx="2540000" cy="149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analysis, use cases, domain modelling, DDD documentation, presentation preparation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55733" y="1473200"/>
            <a:ext cx="3217333" cy="149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VN" sz="1400" dirty="0"/>
              <a:t>Completed requirements analysis, defined use cases and bounded contexts, developed the initial domain model, and prepared presentation content.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042400" y="1473200"/>
            <a:ext cx="2726267" cy="149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(Contributed)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91067" y="2963333"/>
            <a:ext cx="11277600" cy="0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067" y="2963333"/>
            <a:ext cx="11277600" cy="1490133"/>
          </a:xfrm>
          <a:prstGeom prst="rect">
            <a:avLst/>
          </a:prstGeom>
          <a:solidFill>
            <a:srgbClr val="F7FA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0400" y="2963333"/>
            <a:ext cx="1778000" cy="149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Yiheng Huang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777067" y="2963333"/>
            <a:ext cx="2540000" cy="149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development, system architecture, microservices, REST APIs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655733" y="2963333"/>
            <a:ext cx="3217333" cy="149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VN" sz="1400" dirty="0"/>
              <a:t>Implemented initial services and APIs, working on service integration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042400" y="2963333"/>
            <a:ext cx="2726267" cy="149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(Contributed)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91067" y="4453467"/>
            <a:ext cx="11277600" cy="0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0400" y="4453467"/>
            <a:ext cx="1778000" cy="149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 Phan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777067" y="4453467"/>
            <a:ext cx="2540000" cy="149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architecture, Kafka integration, AI features, testing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655733" y="4453467"/>
            <a:ext cx="3217333" cy="149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VN" sz="1400" dirty="0"/>
              <a:t>Researched Kafka and stream processing, designed event models, explored AI integration approach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042400" y="4453467"/>
            <a:ext cx="2726267" cy="149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B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(Contributed)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91067" y="5943600"/>
            <a:ext cx="11277600" cy="0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067" y="1473200"/>
            <a:ext cx="11277600" cy="0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07733" y="999067"/>
            <a:ext cx="0" cy="4944533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999067"/>
            <a:ext cx="0" cy="4944533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42400" y="999067"/>
            <a:ext cx="0" cy="4944533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1067" y="999067"/>
            <a:ext cx="11277600" cy="4944533"/>
          </a:xfrm>
          <a:prstGeom prst="rect">
            <a:avLst/>
          </a:prstGeom>
          <a:ln w="12700">
            <a:solidFill>
              <a:srgbClr val="C9D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20000" y="6079067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i="1" dirty="0">
                <a:solidFill>
                  <a:srgbClr val="12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for a smarter UOW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927</Words>
  <Application>Microsoft Macintosh PowerPoint</Application>
  <PresentationFormat>Widescreen</PresentationFormat>
  <Paragraphs>243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7</cp:revision>
  <dcterms:created xsi:type="dcterms:W3CDTF">2026-09-16T17:01:43Z</dcterms:created>
  <dcterms:modified xsi:type="dcterms:W3CDTF">2026-09-17T03:00:29Z</dcterms:modified>
</cp:coreProperties>
</file>